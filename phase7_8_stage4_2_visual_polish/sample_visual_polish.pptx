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74519"/>
            <a:ext cx="100584" cy="2103120"/>
          </a:xfrm>
          <a:prstGeom prst="rect">
            <a:avLst/>
          </a:prstGeom>
          <a:solidFill>
            <a:srgbClr val="55B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058400" cy="12344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CCTV Engineering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246120"/>
            <a:ext cx="9692640" cy="9144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CCE1F0"/>
                </a:solidFill>
                <a:latin typeface="Aptos"/>
              </a:defRPr>
            </a:pPr>
            <a:r>
              <a:t>Editable deck visual polish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3747" y="246888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8339" y="2679191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339" y="333756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IP cameras</a:t>
            </a:r>
          </a:p>
        </p:txBody>
      </p:sp>
      <p:sp>
        <p:nvSpPr>
          <p:cNvPr id="8" name="Chevron 7"/>
          <p:cNvSpPr/>
          <p:nvPr/>
        </p:nvSpPr>
        <p:spPr>
          <a:xfrm>
            <a:off x="2642158" y="345643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53054" y="246888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646" y="2679191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7646" y="333756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PoE access</a:t>
            </a:r>
          </a:p>
        </p:txBody>
      </p:sp>
      <p:sp>
        <p:nvSpPr>
          <p:cNvPr id="12" name="Chevron 11"/>
          <p:cNvSpPr/>
          <p:nvPr/>
        </p:nvSpPr>
        <p:spPr>
          <a:xfrm>
            <a:off x="4871466" y="345643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82362" y="246888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6954" y="2679191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6954" y="333756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Core network</a:t>
            </a:r>
          </a:p>
        </p:txBody>
      </p:sp>
      <p:sp>
        <p:nvSpPr>
          <p:cNvPr id="16" name="Chevron 15"/>
          <p:cNvSpPr/>
          <p:nvPr/>
        </p:nvSpPr>
        <p:spPr>
          <a:xfrm>
            <a:off x="7100773" y="345643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11669" y="246888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6261" y="2679191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6261" y="333756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VMS recording</a:t>
            </a:r>
          </a:p>
        </p:txBody>
      </p:sp>
      <p:sp>
        <p:nvSpPr>
          <p:cNvPr id="20" name="Chevron 19"/>
          <p:cNvSpPr/>
          <p:nvPr/>
        </p:nvSpPr>
        <p:spPr>
          <a:xfrm>
            <a:off x="9330080" y="345643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40976" y="246888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5568" y="2679191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5568" y="333756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Operator display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Visual Polish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Camera Schedule (1/2)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817350" cy="4297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5948"/>
                <a:gridCol w="2751880"/>
                <a:gridCol w="2684761"/>
                <a:gridCol w="2684761"/>
              </a:tblGrid>
              <a:tr h="740979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Location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Type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C-001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Area 1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C-002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Area 2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C-003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Area 3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C-004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Area 4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C-005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Area 5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C-006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Area 6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Visual Polish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Camera Schedule (2/2)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817351" cy="4297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080"/>
                <a:gridCol w="2793369"/>
                <a:gridCol w="2670951"/>
                <a:gridCol w="2670951"/>
              </a:tblGrid>
              <a:tr h="740979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Location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Type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C-007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Area 7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C-008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Area 8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C-009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Area 9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C-010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Area 10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C-011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Area 11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C-012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Area 12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Visual Polish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Commissioning Checks (1/2)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817351" cy="3456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330"/>
                <a:gridCol w="5179008"/>
                <a:gridCol w="2756013"/>
              </a:tblGrid>
              <a:tr h="822959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Check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Check 1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Confirm compliance against approved requirement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Check 2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Confirm compliance against approved requirement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Check 3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Confirm compliance against approved requirement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Check 4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Confirm compliance against approved requirement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Visual Polish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Commissioning Checks (2/2)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817351" cy="3456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330"/>
                <a:gridCol w="5179008"/>
                <a:gridCol w="2756013"/>
              </a:tblGrid>
              <a:tr h="822959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Check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Check 5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Confirm compliance against approved requirement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Check 6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Confirm compliance against approved requirement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Check 7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Confirm compliance against approved requirement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Check 8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Confirm compliance against approved requirement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Visual Polish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Delivery Risks (1/2)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817350" cy="2926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0186"/>
                <a:gridCol w="4988933"/>
                <a:gridCol w="2878231"/>
              </a:tblGrid>
              <a:tr h="860611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Mitigation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</a:tr>
              <a:tr h="688489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Risk 1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Document the mitigation and action owner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688489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Risk 2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Document the mitigation and action owner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688489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Risk 3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Document the mitigation and action owner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Visual Polish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Delivery Risks (2/2)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817350" cy="2926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0186"/>
                <a:gridCol w="4988933"/>
                <a:gridCol w="2878231"/>
              </a:tblGrid>
              <a:tr h="860611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Mitigation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</a:tr>
              <a:tr h="688489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Risk 4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Document the mitigation and action owner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688489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Risk 5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Document the mitigation and action owner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688489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Risk 6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Document the mitigation and action owner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Visual Polish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Installation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3747" y="246888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8339" y="2679191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339" y="333756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8" name="Chevron 7"/>
          <p:cNvSpPr/>
          <p:nvPr/>
        </p:nvSpPr>
        <p:spPr>
          <a:xfrm>
            <a:off x="2642158" y="345643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53054" y="246888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646" y="2679191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7646" y="333756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2" name="Chevron 11"/>
          <p:cNvSpPr/>
          <p:nvPr/>
        </p:nvSpPr>
        <p:spPr>
          <a:xfrm>
            <a:off x="4871466" y="345643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82362" y="246888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6954" y="2679191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6954" y="333756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Install</a:t>
            </a:r>
          </a:p>
        </p:txBody>
      </p:sp>
      <p:sp>
        <p:nvSpPr>
          <p:cNvPr id="16" name="Chevron 15"/>
          <p:cNvSpPr/>
          <p:nvPr/>
        </p:nvSpPr>
        <p:spPr>
          <a:xfrm>
            <a:off x="7100773" y="345643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11669" y="246888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6261" y="2679191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6261" y="333756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Commission</a:t>
            </a:r>
          </a:p>
        </p:txBody>
      </p:sp>
      <p:sp>
        <p:nvSpPr>
          <p:cNvPr id="20" name="Chevron 19"/>
          <p:cNvSpPr/>
          <p:nvPr/>
        </p:nvSpPr>
        <p:spPr>
          <a:xfrm>
            <a:off x="9330080" y="345643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40976" y="246888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5568" y="2679191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5568" y="333756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Handover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Visual Polish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74519"/>
            <a:ext cx="100584" cy="2103120"/>
          </a:xfrm>
          <a:prstGeom prst="rect">
            <a:avLst/>
          </a:prstGeom>
          <a:solidFill>
            <a:srgbClr val="55B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058400" cy="12344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246120"/>
            <a:ext cx="9692640" cy="9144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CCE1F0"/>
                </a:solidFill>
                <a:latin typeface="Aptos"/>
              </a:defRPr>
            </a:pPr>
            <a:r>
              <a:t>Confirm TBD project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