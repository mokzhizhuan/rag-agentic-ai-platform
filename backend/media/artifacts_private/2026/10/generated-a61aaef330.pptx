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CCTV Engineering Design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Professional design framework for system planning, installation, commissioning, and handover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A structured approach to define, deliver, and verify the CCTV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6712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Confirm operational objectives, coverage requirements, and stakeholder responsibilities.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443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Develop camera locations, equipment selections, network interfaces, and recording strategy.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7216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04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Coordinate power, containment, cybersecurity, access, and maintenance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49884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976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Validate installation through documented testing, acceptance, and handover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Design &amp;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Traceable flow from field devices to monitoring and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Cameras and field devices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Structured cabling and PoE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Network aggregation and routing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Recording and storage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Video management 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Operator workstations and displays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Time synchronization and user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Monitoring, alarms, and audit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Design &amp;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Camera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Initial schedule template; final locations and quantities remain TBD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8173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4338"/>
                <a:gridCol w="2704338"/>
                <a:gridCol w="2704338"/>
                <a:gridCol w="2704338"/>
              </a:tblGrid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Camera ID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Location / Coverage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 / Resolution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91440" marR="91440" marT="41148" marB="41148">
                    <a:solidFill>
                      <a:srgbClr val="2263A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CAM-TBD-01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Location 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Type and resolution 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CAM-TBD-02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Location 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Type and resolution 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CAM-TBD-03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Location 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Type and resolution 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CAM-TBD-04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Location 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Type and resolution 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A42"/>
                          </a:solidFill>
                          <a:latin typeface="Aptos"/>
                        </a:defRPr>
                      </a:pPr>
                      <a:r>
                        <a:t>TBD</a:t>
                      </a:r>
                    </a:p>
                  </a:txBody>
                  <a:tcPr marL="91440" marR="91440" marT="41148" marB="4114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Design &amp;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Network and PoE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Confirm capacity, resilience, and power availability before installation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Confirm bandwidth assumptions and uplink capacity: TBD.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Validate switch port availability and PoE class: TBD.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Define VLAN, addressing, routing, and firewall rules: TBD.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Document cable routes, lengths, labeling, and test criteria.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Confirm PoE budget against connected device demand: TBD.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Provide UPS-backed power requirements where specified: TBD.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Coordinate network ownership and change-control process.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Record device addressing, credentials, and configuration baselines securely.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Design &amp;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Commissioning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Evidence-based verification before operational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16712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Verify camera view, focus, orientation, image quality, and identification against approved schedule.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443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Confirm recording, playback, export, retention configuration, timestamps, and event behavior: TBD.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72160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043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Test network connectivity, PoE status, failover behavior, and cybersecurity controls: TBD.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498847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97679"/>
            <a:ext cx="98298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172A42"/>
                </a:solidFill>
                <a:latin typeface="Aptos"/>
              </a:defRPr>
            </a:pPr>
            <a:r>
              <a:t>Complete defect log, remedial actions, retest evidence, and stakeholder sign-off.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Design &amp;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10789920" cy="795528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700" b="1">
                <a:solidFill>
                  <a:srgbClr val="172A42"/>
                </a:solidFill>
                <a:latin typeface="Aptos"/>
              </a:defRPr>
            </a:pPr>
            <a:r>
              <a:t>Risk and Mitigation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5029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400" b="0">
                <a:solidFill>
                  <a:srgbClr val="5D6C7D"/>
                </a:solidFill>
                <a:latin typeface="Aptos"/>
              </a:defRPr>
            </a:pPr>
            <a:r>
              <a:t>Manage delivery uncertainty through early confirmation and documented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48656" cy="44348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Coverage gaps — perform design review, field validation, and representative image checks.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Insufficient PoE or bandwidth — confirm budgets, uplinks, and measured demand before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Poor environmental suitability — verify ingress, temperature, mounting, and lighting conditions.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Uncontrolled access — apply role-based permissions, credential control, and audit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25856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05740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Risk status: TBD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303580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83464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Owner and due date: 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81304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61188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Mitigation evidence: TBD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590288"/>
            <a:ext cx="68580" cy="68580"/>
          </a:xfrm>
          <a:prstGeom prst="rect">
            <a:avLst/>
          </a:prstGeom>
          <a:solidFill>
            <a:srgbClr val="22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389120"/>
            <a:ext cx="4343400" cy="740664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1700" b="0">
                <a:solidFill>
                  <a:srgbClr val="172A42"/>
                </a:solidFill>
                <a:latin typeface="Aptos"/>
              </a:defRPr>
            </a:pPr>
            <a:r>
              <a:t>Residual risk acceptance: TBD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8321040" cy="2286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900" b="0">
                <a:solidFill>
                  <a:srgbClr val="5D6C7D"/>
                </a:solidFill>
                <a:latin typeface="Aptos"/>
              </a:defRPr>
            </a:pPr>
            <a:r>
              <a:t>CCTV Engineering Design &amp;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28232"/>
            <a:ext cx="457200" cy="27432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r">
              <a:defRPr sz="900" b="0">
                <a:solidFill>
                  <a:srgbClr val="5D6C7D"/>
                </a:solidFill>
                <a:latin typeface="Aptos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74519"/>
            <a:ext cx="100584" cy="2103120"/>
          </a:xfrm>
          <a:prstGeom prst="rect">
            <a:avLst/>
          </a:prstGeom>
          <a:solidFill>
            <a:srgbClr val="55B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123444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Handover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246120"/>
            <a:ext cx="9692640" cy="914400"/>
          </a:xfrm>
          <a:prstGeom prst="rect">
            <a:avLst/>
          </a:prstGeom>
          <a:noFill/>
        </p:spPr>
        <p:txBody>
          <a:bodyPr wrap="square" lIns="36576" rIns="36576" tIns="22860" bIns="22860" anchor="ctr">
            <a:noAutofit/>
          </a:bodyPr>
          <a:lstStyle/>
          <a:p>
            <a:pPr algn="l">
              <a:defRPr sz="2000" b="0">
                <a:solidFill>
                  <a:srgbClr val="CCE1F0"/>
                </a:solidFill>
                <a:latin typeface="Aptos"/>
              </a:defRPr>
            </a:pPr>
            <a:r>
              <a:t>Move from approved design to controlled delivery and operational ownership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